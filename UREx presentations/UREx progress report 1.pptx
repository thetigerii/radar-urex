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71" r:id="rId3"/>
    <p:sldId id="264" r:id="rId4"/>
    <p:sldId id="273" r:id="rId5"/>
    <p:sldId id="266" r:id="rId6"/>
    <p:sldId id="274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EBF78-9C38-45C5-B665-152AD4CBAA52}" v="57" dt="2026-03-04T13:50:25.736"/>
    <p1510:client id="{FA6A43B1-13EA-4565-81C4-BDF239929F2D}" v="400" dt="2026-03-06T07:58:07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2426E-6288-46D0-8D48-6131EE73908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5A571-6690-4F6A-A3F2-DF6C456D8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1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4960-4C98-F2A3-8F7E-E02D36F9F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11473200" cy="2304000"/>
          </a:xfrm>
        </p:spPr>
        <p:txBody>
          <a:bodyPr anchor="ctr" anchorCtr="0">
            <a:normAutofit/>
          </a:bodyPr>
          <a:lstStyle>
            <a:lvl1pPr algn="ctr">
              <a:defRPr sz="4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596E6-B628-E13C-FAE8-DF7F0CAAD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4158000"/>
            <a:ext cx="11472000" cy="2340000"/>
          </a:xfrm>
        </p:spPr>
        <p:txBody>
          <a:bodyPr anchor="ctr" anchorCtr="0"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Contributor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71B7B2-67F9-F7AF-61D0-CD3652BB2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772000"/>
            <a:ext cx="11473200" cy="1295701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62CCD8-66E6-FEC8-515C-0B52E5516EE0}"/>
              </a:ext>
            </a:extLst>
          </p:cNvPr>
          <p:cNvSpPr/>
          <p:nvPr userDrawn="1"/>
        </p:nvSpPr>
        <p:spPr>
          <a:xfrm>
            <a:off x="360000" y="360000"/>
            <a:ext cx="11473200" cy="61380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32E1BA-7F75-1768-7231-22CB7095A4DA}"/>
              </a:ext>
            </a:extLst>
          </p:cNvPr>
          <p:cNvSpPr txBox="1"/>
          <p:nvPr userDrawn="1"/>
        </p:nvSpPr>
        <p:spPr>
          <a:xfrm>
            <a:off x="360000" y="6498000"/>
            <a:ext cx="114732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b="1">
                <a:latin typeface="Verdana" panose="020B0604030504040204" pitchFamily="34" charset="0"/>
                <a:ea typeface="Verdana" panose="020B0604030504040204" pitchFamily="34" charset="0"/>
              </a:rPr>
              <a:t>NUS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8417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11F2AB3-CF16-2AE9-D92D-C0043F8CE62C}"/>
              </a:ext>
            </a:extLst>
          </p:cNvPr>
          <p:cNvSpPr/>
          <p:nvPr userDrawn="1"/>
        </p:nvSpPr>
        <p:spPr>
          <a:xfrm>
            <a:off x="10836000" y="360000"/>
            <a:ext cx="9972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8B409F-C693-530E-BF1A-D0620D7A4997}"/>
              </a:ext>
            </a:extLst>
          </p:cNvPr>
          <p:cNvSpPr/>
          <p:nvPr userDrawn="1"/>
        </p:nvSpPr>
        <p:spPr>
          <a:xfrm>
            <a:off x="8244000" y="360000"/>
            <a:ext cx="252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FBE65F-0C49-322F-2C64-A7982CB1DBF9}"/>
              </a:ext>
            </a:extLst>
          </p:cNvPr>
          <p:cNvSpPr/>
          <p:nvPr userDrawn="1"/>
        </p:nvSpPr>
        <p:spPr>
          <a:xfrm>
            <a:off x="1512000" y="360000"/>
            <a:ext cx="666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62E35E-6098-C9B8-847B-EB93F331D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2000" y="360000"/>
            <a:ext cx="6660000" cy="539625"/>
          </a:xfrm>
          <a:ln w="12700">
            <a:solidFill>
              <a:schemeClr val="tx1"/>
            </a:solidFill>
          </a:ln>
        </p:spPr>
        <p:txBody>
          <a:bodyPr wrap="none">
            <a:normAutofit/>
          </a:bodyPr>
          <a:lstStyle>
            <a:lvl1pPr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C5B58-F5C5-6F33-D93E-89492EAAA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71999"/>
            <a:ext cx="11473200" cy="5526000"/>
          </a:xfrm>
          <a:ln w="12700">
            <a:solidFill>
              <a:schemeClr val="tx1"/>
            </a:solidFill>
          </a:ln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5142D-8C56-AE28-622E-6FA41EF7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6000" y="360000"/>
            <a:ext cx="997200" cy="540000"/>
          </a:xfrm>
          <a:ln w="12700">
            <a:solidFill>
              <a:schemeClr val="tx1"/>
            </a:solidFill>
          </a:ln>
        </p:spPr>
        <p:txBody>
          <a:bodyPr wrap="none">
            <a:normAutofit/>
          </a:bodyPr>
          <a:lstStyle>
            <a:lvl1pPr algn="ctr"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9E4A55B7-A9EB-4AC0-880F-77891F7656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77C3CD-B25A-DB9B-857F-29293FC515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4000" y="360000"/>
            <a:ext cx="2519975" cy="539625"/>
          </a:xfrm>
          <a:ln w="12700">
            <a:solidFill>
              <a:schemeClr val="tx1"/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4FA80-E244-774B-BE53-C0AB1D3E3463}"/>
              </a:ext>
            </a:extLst>
          </p:cNvPr>
          <p:cNvSpPr txBox="1"/>
          <p:nvPr userDrawn="1"/>
        </p:nvSpPr>
        <p:spPr>
          <a:xfrm>
            <a:off x="720000" y="360000"/>
            <a:ext cx="72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">
                <a:latin typeface="Verdana" panose="020B0604030504040204" pitchFamily="34" charset="0"/>
                <a:ea typeface="Verdana" panose="020B0604030504040204" pitchFamily="34" charset="0"/>
              </a:rPr>
              <a:t>NUS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43511C-230D-9F61-68B7-108956968EB1}"/>
              </a:ext>
            </a:extLst>
          </p:cNvPr>
          <p:cNvSpPr txBox="1"/>
          <p:nvPr userDrawn="1"/>
        </p:nvSpPr>
        <p:spPr>
          <a:xfrm>
            <a:off x="360000" y="6498000"/>
            <a:ext cx="11473200" cy="36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400" b="1">
                <a:latin typeface="Verdana" panose="020B0604030504040204" pitchFamily="34" charset="0"/>
                <a:ea typeface="Verdana" panose="020B0604030504040204" pitchFamily="34" charset="0"/>
              </a:rPr>
              <a:t>NUS Confidential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C6696B-4D58-AEB9-2F11-C207ADD433E0}"/>
              </a:ext>
            </a:extLst>
          </p:cNvPr>
          <p:cNvSpPr/>
          <p:nvPr userDrawn="1"/>
        </p:nvSpPr>
        <p:spPr>
          <a:xfrm flipH="1" flipV="1">
            <a:off x="358800" y="971618"/>
            <a:ext cx="11473200" cy="5526001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3C9C6-E206-8158-6064-922985639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396000"/>
            <a:ext cx="367059" cy="46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236468-C48D-19B8-0B87-617BC18C46B8}"/>
              </a:ext>
            </a:extLst>
          </p:cNvPr>
          <p:cNvSpPr/>
          <p:nvPr userDrawn="1"/>
        </p:nvSpPr>
        <p:spPr>
          <a:xfrm>
            <a:off x="360000" y="360000"/>
            <a:ext cx="1080000" cy="53962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7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921C6-7480-6C9F-573F-AED1D5696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0B674-54B1-EFA7-1B07-6E2E73799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92F62-95A7-FA45-A428-C27D79EEF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1E83A-79A8-47B9-83AD-A7425EDE64AA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706D4-B8C1-C3E6-9BF0-A67406265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NUS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312F-2C5C-1BC7-03C6-EC74B418A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A55B7-A9EB-4AC0-880F-77891F765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3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02E0-92C6-244B-354B-5E8A4A324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latin typeface="Arial"/>
                <a:ea typeface="Verdana"/>
                <a:cs typeface="Arial"/>
              </a:rPr>
              <a:t>CDE 2605R</a:t>
            </a:r>
            <a:br>
              <a:rPr lang="en-US">
                <a:solidFill>
                  <a:srgbClr val="FFFFFF"/>
                </a:solidFill>
                <a:latin typeface="Arial"/>
                <a:ea typeface="Verdana"/>
                <a:cs typeface="Arial"/>
              </a:rPr>
            </a:br>
            <a:r>
              <a:rPr lang="en-US">
                <a:solidFill>
                  <a:srgbClr val="FFFFFF"/>
                </a:solidFill>
                <a:latin typeface="Arial"/>
                <a:ea typeface="Verdana"/>
                <a:cs typeface="Arial"/>
              </a:rPr>
              <a:t>Research project on drone detection radar</a:t>
            </a:r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6700C-C693-62D5-A6E2-E8679B7C9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715327"/>
            <a:ext cx="11472000" cy="2340000"/>
          </a:xfrm>
        </p:spPr>
        <p:txBody>
          <a:bodyPr/>
          <a:lstStyle/>
          <a:p>
            <a:endParaRPr lang="en-US">
              <a:solidFill>
                <a:srgbClr val="FFFFFF"/>
              </a:solidFill>
              <a:latin typeface="Arial"/>
              <a:ea typeface="Verdana"/>
              <a:cs typeface="Arial"/>
            </a:endParaRPr>
          </a:p>
          <a:p>
            <a:r>
              <a:rPr lang="en-US">
                <a:solidFill>
                  <a:srgbClr val="FFFFFF"/>
                </a:solidFill>
                <a:latin typeface="Arial"/>
                <a:ea typeface="Verdana"/>
                <a:cs typeface="Arial"/>
              </a:rPr>
              <a:t>By: Ang Ding Li Victor, Weng Xian Yang, You Qi Xuan</a:t>
            </a:r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207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74B3-9530-0EB2-BE4F-5FEF135E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/>
                <a:ea typeface="Verdana"/>
              </a:rPr>
              <a:t>Project 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EB47-AF7E-26F9-2CB5-B07997E6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Gain an understanding of radar fundamentals</a:t>
            </a:r>
            <a:endParaRPr lang="en-US">
              <a:latin typeface="Arial"/>
              <a:cs typeface="Arial"/>
            </a:endParaRPr>
          </a:p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Gain experience with </a:t>
            </a:r>
            <a:r>
              <a:rPr lang="en-US">
                <a:solidFill>
                  <a:srgbClr val="000000"/>
                </a:solidFill>
                <a:latin typeface="Arial"/>
                <a:ea typeface="Verdana"/>
                <a:cs typeface="Arial"/>
              </a:rPr>
              <a:t>radar system design</a:t>
            </a:r>
            <a:endParaRPr lang="en-US">
              <a:latin typeface="Arial"/>
              <a:cs typeface="Arial"/>
            </a:endParaRPr>
          </a:p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Build a </a:t>
            </a:r>
            <a:r>
              <a:rPr lang="en-US" i="1">
                <a:latin typeface="Arial"/>
                <a:ea typeface="Verdana"/>
                <a:cs typeface="Arial"/>
              </a:rPr>
              <a:t>portable</a:t>
            </a:r>
            <a:r>
              <a:rPr lang="en-US">
                <a:latin typeface="Arial"/>
                <a:ea typeface="Verdana"/>
                <a:cs typeface="Arial"/>
              </a:rPr>
              <a:t>, </a:t>
            </a:r>
            <a:r>
              <a:rPr lang="en-US" i="1">
                <a:latin typeface="Arial"/>
                <a:ea typeface="Verdana"/>
                <a:cs typeface="Arial"/>
              </a:rPr>
              <a:t>phased array radar system</a:t>
            </a:r>
            <a:r>
              <a:rPr lang="en-US">
                <a:latin typeface="Arial"/>
                <a:ea typeface="Verdana"/>
                <a:cs typeface="Arial"/>
              </a:rPr>
              <a:t>, to </a:t>
            </a:r>
            <a:r>
              <a:rPr lang="en-US" i="1">
                <a:latin typeface="Arial"/>
                <a:ea typeface="Verdana"/>
                <a:cs typeface="Arial"/>
              </a:rPr>
              <a:t>detect UAS</a:t>
            </a:r>
          </a:p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Validate system by testing against live UAS</a:t>
            </a:r>
          </a:p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Write </a:t>
            </a:r>
            <a:r>
              <a:rPr lang="en-US" err="1">
                <a:latin typeface="Arial"/>
                <a:ea typeface="Verdana"/>
                <a:cs typeface="Arial"/>
              </a:rPr>
              <a:t>UREx</a:t>
            </a:r>
            <a:r>
              <a:rPr lang="en-US">
                <a:latin typeface="Arial"/>
                <a:ea typeface="Verdana"/>
                <a:cs typeface="Arial"/>
              </a:rPr>
              <a:t> report</a:t>
            </a:r>
            <a:endParaRPr lang="en-US">
              <a:latin typeface="Arial"/>
              <a:cs typeface="Arial"/>
            </a:endParaRPr>
          </a:p>
          <a:p>
            <a:pPr marL="457200" indent="-457200">
              <a:buFont typeface="Wingdings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Attend mandatory five workshops for all </a:t>
            </a:r>
            <a:r>
              <a:rPr lang="en-US" err="1">
                <a:latin typeface="Arial"/>
                <a:ea typeface="Verdana"/>
                <a:cs typeface="Arial"/>
              </a:rPr>
              <a:t>UREx</a:t>
            </a:r>
            <a:r>
              <a:rPr lang="en-US">
                <a:latin typeface="Arial"/>
                <a:ea typeface="Verdana"/>
                <a:cs typeface="Arial"/>
              </a:rPr>
              <a:t> fellows</a:t>
            </a:r>
            <a:endParaRPr lang="en-US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>
              <a:latin typeface="Arial"/>
              <a:ea typeface="Verdana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ea typeface="Verdana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4AC9-7390-C0D7-A075-F08B898F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E2D65-E74E-03B6-3A97-BB00F2B802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Verdana"/>
                <a:ea typeface="Verdana"/>
              </a:rPr>
              <a:t>6/3/26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3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3C41-1A3C-C8A4-D66D-A9B15A06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Timeline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7E39-22EF-5CCE-CCA3-5BC8852D2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91C1F-8A88-C4B4-2E43-962BCB86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>
                <a:latin typeface="Arial"/>
                <a:cs typeface="Arial"/>
              </a:rPr>
              <a:pPr/>
              <a:t>3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C9118-9837-2654-E169-AAE40F02A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Verdana"/>
                <a:cs typeface="Arial"/>
              </a:rPr>
              <a:t>6/3/26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CD5E7-4A1B-154A-F875-1B06A3ABE212}"/>
              </a:ext>
            </a:extLst>
          </p:cNvPr>
          <p:cNvSpPr txBox="1"/>
          <p:nvPr/>
        </p:nvSpPr>
        <p:spPr>
          <a:xfrm>
            <a:off x="365012" y="3125708"/>
            <a:ext cx="1146996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en-US" sz="2400" dirty="0"/>
              <a:t>Qi Xuan and Xian Yang need to end the project before going on SEP, expected to fly off end of week 1 September</a:t>
            </a:r>
          </a:p>
          <a:p>
            <a:pPr marL="342900" indent="-342900">
              <a:buFont typeface="Wingdings"/>
              <a:buChar char="§"/>
            </a:pPr>
            <a:r>
              <a:rPr lang="en-US" sz="2400" dirty="0"/>
              <a:t>Victor accepted </a:t>
            </a:r>
            <a:r>
              <a:rPr lang="en-US" sz="2400" dirty="0" err="1"/>
              <a:t>STEng</a:t>
            </a:r>
            <a:r>
              <a:rPr lang="en-US" sz="2400" dirty="0"/>
              <a:t> summer internship, attempting to apply as VIA, subject to CDE</a:t>
            </a:r>
          </a:p>
          <a:p>
            <a:pPr marL="342900" indent="-342900">
              <a:buFont typeface="Wingdings"/>
              <a:buChar char="§"/>
            </a:pPr>
            <a:r>
              <a:rPr lang="en-US" sz="2400" dirty="0"/>
              <a:t>Also accepted GlobalFoundries semester internship, flexible start and end date, will turn into IA if </a:t>
            </a:r>
            <a:r>
              <a:rPr lang="en-US" sz="2400" dirty="0" err="1"/>
              <a:t>STEng</a:t>
            </a:r>
            <a:r>
              <a:rPr lang="en-US" sz="2400" dirty="0"/>
              <a:t> VIA rejected</a:t>
            </a:r>
          </a:p>
          <a:p>
            <a:pPr marL="342900" indent="-342900">
              <a:buFont typeface="Wingdings"/>
              <a:buChar char="§"/>
            </a:pPr>
            <a:r>
              <a:rPr lang="en-US" sz="2400" dirty="0"/>
              <a:t>Both supervisors are aware of </a:t>
            </a:r>
            <a:r>
              <a:rPr lang="en-US" sz="2400" dirty="0" err="1"/>
              <a:t>UREx</a:t>
            </a:r>
            <a:r>
              <a:rPr lang="en-US" sz="2400" dirty="0"/>
              <a:t>, will attempt to accommodate so I have time to contribute even during internship</a:t>
            </a:r>
          </a:p>
        </p:txBody>
      </p:sp>
      <p:pic>
        <p:nvPicPr>
          <p:cNvPr id="6" name="Picture 5" descr="A screen shot of a chart">
            <a:extLst>
              <a:ext uri="{FF2B5EF4-FFF2-40B4-BE49-F238E27FC236}">
                <a16:creationId xmlns:a16="http://schemas.microsoft.com/office/drawing/2014/main" id="{36110A7C-1560-0798-F489-72D11A17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976313"/>
            <a:ext cx="114776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0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5CEDA-179C-EEB0-60DD-4026FF29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ACC6-97A8-BE28-051C-023BEC2C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Verdana"/>
                <a:ea typeface="Verdana"/>
              </a:rPr>
              <a:t>Deliverables plan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B7AB-8B7E-34B9-A61F-4E7D42968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CC4B7-CCCC-88E0-52F6-8AE6E30D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53AA4-06B1-DC45-69CE-3153654DE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Verdana"/>
                <a:ea typeface="Verdana"/>
              </a:rPr>
              <a:t>6/3/26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7E26E-6FC3-CB10-77EA-EB8773EE86CE}"/>
              </a:ext>
            </a:extLst>
          </p:cNvPr>
          <p:cNvSpPr txBox="1"/>
          <p:nvPr/>
        </p:nvSpPr>
        <p:spPr>
          <a:xfrm>
            <a:off x="360782" y="970646"/>
            <a:ext cx="11467848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Victor to submit deliverables before VIA</a:t>
            </a: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In above case, will help out with </a:t>
            </a:r>
            <a:r>
              <a:rPr lang="en-US" sz="2600" err="1">
                <a:latin typeface="Arial"/>
                <a:cs typeface="Arial"/>
              </a:rPr>
              <a:t>UREx</a:t>
            </a:r>
            <a:r>
              <a:rPr lang="en-US" sz="2600">
                <a:latin typeface="Arial"/>
                <a:cs typeface="Arial"/>
              </a:rPr>
              <a:t> in unofficial capacity until project end</a:t>
            </a: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Will submit deliverables before IA In case of no VIA or SID internship, will help out until project end</a:t>
            </a: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Xian Yang and Qi Xuan deliverables must be submitted before SEP which is expected to start in middle of September</a:t>
            </a: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Soft deliverables such as report can be submitted before official start of SEP even after flying off to the USA</a:t>
            </a:r>
          </a:p>
          <a:p>
            <a:r>
              <a:rPr lang="en-US" sz="2600" b="1">
                <a:latin typeface="Arial"/>
                <a:cs typeface="Arial"/>
              </a:rPr>
              <a:t>Deliverables</a:t>
            </a:r>
          </a:p>
          <a:p>
            <a:pPr marL="285750" indent="-285750">
              <a:buFont typeface="Wingdings"/>
              <a:buChar char="§"/>
            </a:pPr>
            <a:r>
              <a:rPr lang="en-US" sz="2600" err="1">
                <a:latin typeface="Arial"/>
                <a:cs typeface="Arial"/>
              </a:rPr>
              <a:t>UREx</a:t>
            </a:r>
            <a:r>
              <a:rPr lang="en-US" sz="2600">
                <a:latin typeface="Arial"/>
                <a:cs typeface="Arial"/>
              </a:rPr>
              <a:t> report</a:t>
            </a:r>
            <a:endParaRPr lang="en-US" sz="2600">
              <a:latin typeface="Aptos" panose="02110004020202020204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Working radar set</a:t>
            </a:r>
            <a:endParaRPr lang="en-US" sz="2600">
              <a:latin typeface="Aptos" panose="02110004020202020204"/>
              <a:cs typeface="Arial"/>
            </a:endParaRPr>
          </a:p>
          <a:p>
            <a:pPr marL="285750" indent="-285750">
              <a:buFont typeface="Wingdings"/>
              <a:buChar char="§"/>
            </a:pPr>
            <a:r>
              <a:rPr lang="en-US" sz="2600">
                <a:latin typeface="Arial"/>
                <a:cs typeface="Arial"/>
              </a:rPr>
              <a:t>Documentation for radar set</a:t>
            </a:r>
            <a:endParaRPr lang="en-US" sz="2600">
              <a:latin typeface="Aptos" panose="02110004020202020204"/>
              <a:cs typeface="Arial"/>
            </a:endParaRPr>
          </a:p>
          <a:p>
            <a:pPr marL="571500" indent="-571500">
              <a:buFont typeface="Wingdings"/>
              <a:buChar char="§"/>
            </a:pPr>
            <a:endParaRPr lang="en-US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06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CD45-A6CC-2E19-8189-046D6BD0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Starting off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C1C4-CCAE-D539-EAC4-0523D1E2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Given lack of background knowledge, all members to read </a:t>
            </a:r>
            <a:r>
              <a:rPr lang="en-US" i="1">
                <a:latin typeface="Arial"/>
                <a:ea typeface="Verdana"/>
                <a:cs typeface="Arial"/>
              </a:rPr>
              <a:t>Radar Fundamentals </a:t>
            </a:r>
            <a:r>
              <a:rPr lang="en-US">
                <a:latin typeface="Arial"/>
                <a:ea typeface="Verdana"/>
                <a:cs typeface="Arial"/>
              </a:rPr>
              <a:t>textbook provided by prof Koenraad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Chapters that we think will be relevant to project:</a:t>
            </a:r>
          </a:p>
          <a:p>
            <a:pPr lvl="1">
              <a:buFont typeface="Wingdings" panose="020B0604020202020204" pitchFamily="34" charset="0"/>
              <a:buChar char="q"/>
            </a:pPr>
            <a:r>
              <a:rPr lang="en-US" sz="2800">
                <a:latin typeface="Arial"/>
                <a:ea typeface="Verdana"/>
                <a:cs typeface="Arial"/>
              </a:rPr>
              <a:t>Ch 1-8, 10, 13-14</a:t>
            </a:r>
            <a:endParaRPr lang="en-US">
              <a:latin typeface="Arial"/>
              <a:ea typeface="Verdana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Radar set's main goal is to </a:t>
            </a:r>
            <a:r>
              <a:rPr lang="en-US" i="1">
                <a:latin typeface="Arial"/>
                <a:ea typeface="Verdana"/>
                <a:cs typeface="Arial"/>
              </a:rPr>
              <a:t>detect</a:t>
            </a:r>
            <a:r>
              <a:rPr lang="en-US">
                <a:latin typeface="Arial"/>
                <a:ea typeface="Verdana"/>
                <a:cs typeface="Arial"/>
              </a:rPr>
              <a:t> potential UAS targets only, so chapter on tracking not relevant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Telegram chat?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To conduct a literature review on current C-UAS radar systems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Look up existing projects to find limitations and tradeoffs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Verdana"/>
                <a:cs typeface="Arial"/>
              </a:rPr>
              <a:t>See if there can be improvements made to current systems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0B8B4-3E69-D74A-E0D3-EE38AD4C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>
                <a:latin typeface="Arial"/>
                <a:cs typeface="Arial"/>
              </a:rPr>
              <a:pPr/>
              <a:t>5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2DA0E-B075-1F1A-5F99-B01162B4C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Verdana"/>
                <a:cs typeface="Arial"/>
              </a:rPr>
              <a:t>6/3/26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639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E299-7B51-20A8-3820-32C990FA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68EE-5549-7B96-2B5E-FF487F9A5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91FE1-7870-61FC-7E0F-2F341CFD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latin typeface="Arial"/>
                <a:ea typeface="Verdana"/>
                <a:cs typeface="Arial"/>
              </a:rPr>
              <a:t>Found out that systems mentioned in academic papers typically have a few hundred </a:t>
            </a:r>
            <a:r>
              <a:rPr lang="en-US" dirty="0" err="1">
                <a:latin typeface="Arial"/>
                <a:ea typeface="Verdana"/>
                <a:cs typeface="Arial"/>
              </a:rPr>
              <a:t>metres</a:t>
            </a:r>
            <a:r>
              <a:rPr lang="en-US" dirty="0">
                <a:latin typeface="Arial"/>
                <a:ea typeface="Verdana"/>
                <a:cs typeface="Arial"/>
              </a:rPr>
              <a:t> range</a:t>
            </a: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latin typeface="Arial"/>
                <a:ea typeface="Verdana"/>
                <a:cs typeface="Arial"/>
              </a:rPr>
              <a:t>Vs the few km range for </a:t>
            </a:r>
            <a:r>
              <a:rPr lang="en-US" err="1">
                <a:latin typeface="Arial"/>
                <a:ea typeface="Verdana"/>
                <a:cs typeface="Arial"/>
              </a:rPr>
              <a:t>defence</a:t>
            </a:r>
            <a:r>
              <a:rPr lang="en-US" dirty="0">
                <a:latin typeface="Arial"/>
                <a:ea typeface="Verdana"/>
                <a:cs typeface="Arial"/>
              </a:rPr>
              <a:t> solutions </a:t>
            </a:r>
            <a:r>
              <a:rPr lang="en-US" err="1">
                <a:latin typeface="Arial"/>
                <a:ea typeface="Verdana"/>
                <a:cs typeface="Arial"/>
              </a:rPr>
              <a:t>e.g</a:t>
            </a:r>
            <a:r>
              <a:rPr lang="en-US" dirty="0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echodyne</a:t>
            </a:r>
            <a:r>
              <a:rPr lang="en-US" dirty="0">
                <a:latin typeface="Arial"/>
                <a:ea typeface="Verdana"/>
                <a:cs typeface="Arial"/>
              </a:rPr>
              <a:t>/</a:t>
            </a:r>
            <a:r>
              <a:rPr lang="en-US" err="1">
                <a:latin typeface="Arial"/>
                <a:ea typeface="Verdana"/>
                <a:cs typeface="Arial"/>
              </a:rPr>
              <a:t>kongsberg</a:t>
            </a:r>
            <a:endParaRPr lang="en-US" dirty="0">
              <a:latin typeface="Arial"/>
              <a:ea typeface="Verdana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r>
              <a:rPr lang="en-US" dirty="0">
                <a:latin typeface="Arial"/>
                <a:ea typeface="Verdana"/>
                <a:cs typeface="Arial"/>
              </a:rPr>
              <a:t>One area to explore can be how these systems differ and how they are designed to achieve a much higher instrumented range</a:t>
            </a:r>
            <a:endParaRPr lang="en-US" dirty="0">
              <a:latin typeface="Arial"/>
              <a:cs typeface="Arial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2A1CF-ABCB-88A2-3A84-F8960B8F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>
                <a:latin typeface="Arial"/>
                <a:cs typeface="Arial"/>
              </a:rPr>
              <a:pPr/>
              <a:t>6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7D408-FAC9-FA8C-4988-606418F974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Verdana"/>
                <a:cs typeface="Arial"/>
              </a:rPr>
              <a:t>6/3/26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15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AC35-172D-6B3D-D835-5308D906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/>
                <a:ea typeface="Verdana"/>
              </a:rPr>
              <a:t>Radar specifications (tentative)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B6E1-1BA8-AD47-E4F2-52E4E3C66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Verdana"/>
                <a:ea typeface="Verdana"/>
              </a:rPr>
              <a:t>The system should be able to detect a commercial quadcopter drone </a:t>
            </a:r>
            <a:r>
              <a:rPr lang="en-US">
                <a:latin typeface="Verdana"/>
                <a:ea typeface="Verdana"/>
              </a:rPr>
              <a:t>sized target out to x distance away</a:t>
            </a:r>
            <a:endParaRPr lang="en-US" dirty="0"/>
          </a:p>
          <a:p>
            <a:r>
              <a:rPr lang="en-US" dirty="0">
                <a:latin typeface="Verdana"/>
                <a:ea typeface="Verdana"/>
              </a:rPr>
              <a:t>Frequency band: X?</a:t>
            </a:r>
            <a:endParaRPr lang="en-US" dirty="0"/>
          </a:p>
          <a:p>
            <a:r>
              <a:rPr lang="en-US">
                <a:latin typeface="Verdana"/>
                <a:ea typeface="Verdana"/>
              </a:rPr>
              <a:t>Range: 1km??</a:t>
            </a:r>
          </a:p>
          <a:p>
            <a:r>
              <a:rPr lang="en-US">
                <a:latin typeface="Verdana"/>
                <a:ea typeface="Verdana"/>
              </a:rPr>
              <a:t>Configuration: 1 panel should be fine</a:t>
            </a:r>
            <a:endParaRPr lang="en-US" dirty="0">
              <a:latin typeface="Verdana"/>
              <a:ea typeface="Verdana"/>
            </a:endParaRPr>
          </a:p>
          <a:p>
            <a:endParaRPr lang="en-US" dirty="0">
              <a:latin typeface="Verdana"/>
              <a:ea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B4053-9A20-BC22-56EB-D8315790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55B7-A9EB-4AC0-880F-77891F76567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2A37F-900D-28B4-34D5-D98B9E20C3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11/02/2025</a:t>
            </a:r>
          </a:p>
        </p:txBody>
      </p:sp>
    </p:spTree>
    <p:extLst>
      <p:ext uri="{BB962C8B-B14F-4D97-AF65-F5344CB8AC3E}">
        <p14:creationId xmlns:p14="http://schemas.microsoft.com/office/powerpoint/2010/main" val="32053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CDE 2605R Research project on drone detection radar</vt:lpstr>
      <vt:lpstr>Project objectives</vt:lpstr>
      <vt:lpstr>Timeline</vt:lpstr>
      <vt:lpstr>Deliverables plan</vt:lpstr>
      <vt:lpstr>Starting off</vt:lpstr>
      <vt:lpstr>Literature survey</vt:lpstr>
      <vt:lpstr>Radar specifications (tentative)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 M</dc:creator>
  <cp:revision>78</cp:revision>
  <dcterms:created xsi:type="dcterms:W3CDTF">2024-02-18T02:13:28Z</dcterms:created>
  <dcterms:modified xsi:type="dcterms:W3CDTF">2026-05-05T16:53:50Z</dcterms:modified>
</cp:coreProperties>
</file>